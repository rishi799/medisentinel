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1097280"/>
          </a:xfrm>
          <a:prstGeom prst="roundRect">
            <a:avLst/>
          </a:prstGeom>
          <a:solidFill>
            <a:srgbClr val="183452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RV COLLEGE OF ENGINEERING® · BENGALURU - 560059</a:t>
            </a:r>
          </a:p>
          <a:p>
            <a:pPr algn="ctr">
              <a:defRPr sz="1100">
                <a:solidFill>
                  <a:srgbClr val="E2E8F0"/>
                </a:solidFill>
              </a:defRPr>
            </a:pPr>
            <a:r>
              <a:t>DEPARTMENT OF COMPUTER SCIENCE &amp; ENGINEERING (AI &amp; ML) · EXPERIENTIAL LEARNING (EL) PHASE-I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MediSentinel</a:t>
            </a:r>
          </a:p>
          <a:p>
            <a:pPr algn="ctr">
              <a:defRPr sz="2000" b="1">
                <a:solidFill>
                  <a:srgbClr val="0EA5E9"/>
                </a:solidFill>
              </a:defRPr>
            </a:pPr>
            <a:r>
              <a:t>An Intelligent Medication Safety &amp; Adverse-Reaction Surveillance System</a:t>
            </a:r>
          </a:p>
          <a:p>
            <a:pPr algn="ctr">
              <a:defRPr sz="1300" i="1">
                <a:solidFill>
                  <a:srgbClr val="CBD5E1"/>
                </a:solidFill>
              </a:defRPr>
            </a:pPr>
            <a:r>
              <a:t>A Hybrid Polyglot Architecture (PostgreSQL ACID Core + MongoDB Big Data) with Real-Time Safety Triggers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4937760" cy="1828800"/>
          </a:xfrm>
          <a:prstGeom prst="roundRect">
            <a:avLst/>
          </a:prstGeom>
          <a:solidFill>
            <a:srgbClr val="142D48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PROJECT TEAM (DEVELOPMENT ROLES)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Rishi (Lead) - Database Architecture &amp; Integration (Person A)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Team Member 2 - Data Engineering &amp; NoSQL Ingestion (Person B)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Priyanshi Gupta - Frontend Forms &amp; Validation Logic (Person 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389120"/>
            <a:ext cx="4937760" cy="1828800"/>
          </a:xfrm>
          <a:prstGeom prst="roundRect">
            <a:avLst/>
          </a:prstGeom>
          <a:solidFill>
            <a:srgbClr val="142D48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48056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ACADEMIC &amp; LABORATORY CONTEXT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Course: Database Management Systems (CD252IA)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Semester: 4th Semester B.E. (AI &amp; ML)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Project Target: Production-Grade Polyglot Decision Support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Milestone: Phase-I Verified &amp; Tagged (v1-partial-demo)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COURSE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Experiential Learning – Methodology &amp; Tentative Steps Adopted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44752"/>
            <a:ext cx="1097280" cy="54864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37160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Step 1: Clinical Problem Formulation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Analyzed Adverse Drug Events (ADEs) and polypharmacy risks. Formalized system scope, SRS documentation, and healthcare safety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0728655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496312"/>
            <a:ext cx="1097280" cy="54864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42316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Step 2: Polyglot Persistence Architecture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Engineered two-tier storage: PostgreSQL for transactional ACID integrity and MongoDB for high-volume openFDA unstructured clinical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79"/>
            <a:ext cx="10728655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547871"/>
            <a:ext cx="1097280" cy="54864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474719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Step 3: Relational Rigor &amp; BCNF Normalization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Decomposed schema into 11 BCNF relations eliminating all anomalies. Built PL/pgSQL real-time triggers and row-level least-privilege security.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0728655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599432"/>
            <a:ext cx="1097280" cy="54864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52628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Step 4: NoSQL Ingestion &amp; Disproportionality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Harvested 1,000+ FDA drug labels &amp; 5,000+ adverse event reports. Engineered MongoDB aggregation pipelines for PRR/ROR signal mining.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650992"/>
            <a:ext cx="1097280" cy="54864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5778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Step 5: Role-Segregated Streamlit Application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Constructed reactive medical web portal with native PostgreSQL authentication, client-side validation, and live clinical alert overrides.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Presentation Outline &amp; Project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54480"/>
            <a:ext cx="685800" cy="685800"/>
          </a:xfrm>
          <a:prstGeom prst="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0876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Introduction &amp; Clinical Importance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Global healthcare burden of ADRs and clinical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578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685800" cy="685800"/>
          </a:xfrm>
          <a:prstGeom prst="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Literature Review &amp; Research Gaps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Analysis of 4 key studies, trends &amp; theoretical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52578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788920"/>
            <a:ext cx="685800" cy="685800"/>
          </a:xfrm>
          <a:prstGeom prst="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74320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Problem Definition &amp; Context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Polypharmacy risks, diagnostic blindspots &amp; system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606040"/>
            <a:ext cx="52578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788920"/>
            <a:ext cx="685800" cy="685800"/>
          </a:xfrm>
          <a:prstGeom prst="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74320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Project Objectives &amp; Scope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Core aims, mathematical disproportionality &amp; design goals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52578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023360"/>
            <a:ext cx="685800" cy="685800"/>
          </a:xfrm>
          <a:prstGeom prst="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97764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Methodology &amp; Polyglot Architecture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Hybrid PostgreSQL + MongoDB design &amp; Level 0-2 DFD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52578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023360"/>
            <a:ext cx="685800" cy="685800"/>
          </a:xfrm>
          <a:prstGeom prst="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97764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Database Rigor: BCNF &amp; Triggers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11-table schema, BCNF decomposition &amp; PL/pgSQL triggers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74920"/>
            <a:ext cx="52578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257800"/>
            <a:ext cx="685800" cy="685800"/>
          </a:xfrm>
          <a:prstGeom prst="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21208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Application Interface &amp; Testing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Role-based Streamlit UI, form validation &amp; test 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074920"/>
            <a:ext cx="52578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5257800"/>
            <a:ext cx="685800" cy="685800"/>
          </a:xfrm>
          <a:prstGeom prst="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21208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Proposed Outcomes &amp; Roadmap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System metrics, 13-week Gantt timeline &amp; publications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Introduction: Clinical Motivation &amp; The Burden of Adverse Drug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The Polypharmacy Crisis in Modern Healthcare</a:t>
            </a:r>
          </a:p>
          <a:p>
            <a:r>
              <a:rPr b="1" sz="1050">
                <a:solidFill>
                  <a:srgbClr val="0F2942"/>
                </a:solidFill>
              </a:rPr>
              <a:t>Critical Clinical Challenge: </a:t>
            </a:r>
            <a:r>
              <a:rPr sz="1050">
                <a:solidFill>
                  <a:srgbClr val="1E293B"/>
                </a:solidFill>
              </a:rPr>
              <a:t>With aging demographics, over 40% of elderly patients take ≥5 concurrent prescription medications, vastly escalating Drug-Drug Interaction (DDI) probabilities.</a:t>
            </a:r>
          </a:p>
          <a:p>
            <a:r>
              <a:rPr b="1" sz="1050">
                <a:solidFill>
                  <a:srgbClr val="0F2942"/>
                </a:solidFill>
              </a:rPr>
              <a:t>Severe Patient Harm: </a:t>
            </a:r>
            <a:r>
              <a:rPr sz="1050">
                <a:solidFill>
                  <a:srgbClr val="1E293B"/>
                </a:solidFill>
              </a:rPr>
              <a:t>Adverse Drug Reactions (ADRs) account for 6.7% of all acute hospital admissions and rank as the 4th leading cause of death in hospitalized patients.</a:t>
            </a:r>
          </a:p>
          <a:p>
            <a:r>
              <a:rPr b="1" sz="1050">
                <a:solidFill>
                  <a:srgbClr val="0F2942"/>
                </a:solidFill>
              </a:rPr>
              <a:t>High Preventability: </a:t>
            </a:r>
            <a:r>
              <a:rPr sz="1050">
                <a:solidFill>
                  <a:srgbClr val="1E293B"/>
                </a:solidFill>
              </a:rPr>
              <a:t>Over 52% of adverse medication events are clinically preventable at the prescribing stage with automated cross-checking against patient history.</a:t>
            </a:r>
          </a:p>
          <a:p>
            <a:r>
              <a:rPr b="1" sz="1050">
                <a:solidFill>
                  <a:srgbClr val="0F2942"/>
                </a:solidFill>
              </a:rPr>
              <a:t>Economic Repercussions: </a:t>
            </a:r>
            <a:r>
              <a:rPr sz="1050">
                <a:solidFill>
                  <a:srgbClr val="1E293B"/>
                </a:solidFill>
              </a:rPr>
              <a:t>Hospital-acquired medication toxicities impose an annual economic burden exceeding $4.2 Billion globally in extended ICU stays and treatments.</a:t>
            </a:r>
          </a:p>
          <a:p>
            <a:r>
              <a:rPr b="1" sz="1050">
                <a:solidFill>
                  <a:srgbClr val="0F2942"/>
                </a:solidFill>
              </a:rPr>
              <a:t>The Solution – MediSentinel: </a:t>
            </a:r>
            <a:r>
              <a:rPr sz="1050">
                <a:solidFill>
                  <a:srgbClr val="1E293B"/>
                </a:solidFill>
              </a:rPr>
              <a:t>A real-time clinical safety net that intercepts dangerous drug combinations inside the database transaction before prescriptions are dispensed.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adr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846320" cy="2699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30352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Key Insight: Over half of clinical ADRs are preventable through automated transactional cross-checking against patient renal/hepatic states and active regimens.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02 ·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Literature Review: State-of-the-Art &amp; Research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Bates et al. (JAMA)</a:t>
            </a:r>
          </a:p>
          <a:p>
            <a:pPr>
              <a:defRPr sz="1000" i="1">
                <a:solidFill>
                  <a:srgbClr val="0EA5E9"/>
                </a:solidFill>
              </a:defRPr>
            </a:pPr>
            <a:r>
              <a:t>Incidence of Adverse Drug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37160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/>
              <a:t>Key Finding: </a:t>
            </a:r>
            <a:r>
              <a:rPr sz="1000"/>
              <a:t>Hospital medication errors frequently stem from missed contraindications at order entry.</a:t>
            </a:r>
          </a:p>
          <a:p>
            <a:r>
              <a:rPr b="1" sz="1000">
                <a:solidFill>
                  <a:srgbClr val="EF4444"/>
                </a:solidFill>
              </a:rPr>
              <a:t>Identified Gap: </a:t>
            </a:r>
            <a:r>
              <a:rPr sz="1000"/>
              <a:t>Traditional EHR alert systems cause 90% alert fatigue due to unstratified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Bate &amp; Evans (BMJ)</a:t>
            </a:r>
          </a:p>
          <a:p>
            <a:pPr>
              <a:defRPr sz="1000" i="1">
                <a:solidFill>
                  <a:srgbClr val="0EA5E9"/>
                </a:solidFill>
              </a:defRPr>
            </a:pPr>
            <a:r>
              <a:t>Disproportionality Analysis (PRR)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60604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/>
              <a:t>Key Finding: </a:t>
            </a:r>
            <a:r>
              <a:rPr sz="1000"/>
              <a:t>Introduced Proportional Reporting Ratios to detect emerging drug safety signals from FAERS.</a:t>
            </a:r>
          </a:p>
          <a:p>
            <a:r>
              <a:rPr b="1" sz="1000">
                <a:solidFill>
                  <a:srgbClr val="EF4444"/>
                </a:solidFill>
              </a:rPr>
              <a:t>Identified Gap: </a:t>
            </a:r>
            <a:r>
              <a:rPr sz="1000"/>
              <a:t>Computationally intensive; historically run as offline batch jobs rather than integrated.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79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Nelson et al. (JAMIA)</a:t>
            </a:r>
          </a:p>
          <a:p>
            <a:pPr>
              <a:defRPr sz="1000" i="1">
                <a:solidFill>
                  <a:srgbClr val="0EA5E9"/>
                </a:solidFill>
              </a:defRPr>
            </a:pPr>
            <a:r>
              <a:t>Normalized RxNorm Nomenclatures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840479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/>
              <a:t>Key Finding: </a:t>
            </a:r>
            <a:r>
              <a:rPr sz="1000"/>
              <a:t>Established standardized medical concept IDs (RxCUI) linking brand names to active ingredients.</a:t>
            </a:r>
          </a:p>
          <a:p>
            <a:r>
              <a:rPr b="1" sz="1000">
                <a:solidFill>
                  <a:srgbClr val="EF4444"/>
                </a:solidFill>
              </a:rPr>
              <a:t>Identified Gap: </a:t>
            </a:r>
            <a:r>
              <a:rPr sz="1000"/>
              <a:t>Limited to terminology mapping; does not provide relational transaction safety.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Percha &amp; Altman (Bioinformatics)</a:t>
            </a:r>
          </a:p>
          <a:p>
            <a:pPr>
              <a:defRPr sz="1000" i="1">
                <a:solidFill>
                  <a:srgbClr val="0EA5E9"/>
                </a:solidFill>
              </a:defRPr>
            </a:pPr>
            <a:r>
              <a:t>Learning DDI from FDA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0749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/>
              <a:t>Key Finding: </a:t>
            </a:r>
            <a:r>
              <a:rPr sz="1000"/>
              <a:t>Extracted semantic interaction triples from raw unstructured drug packaging labels.</a:t>
            </a:r>
          </a:p>
          <a:p>
            <a:r>
              <a:rPr b="1" sz="1000">
                <a:solidFill>
                  <a:srgbClr val="EF4444"/>
                </a:solidFill>
              </a:rPr>
              <a:t>Identified Gap: </a:t>
            </a:r>
            <a:r>
              <a:rPr sz="1000"/>
              <a:t>Lacks an operational relational database to enforce extracted rules in real clinical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03 ·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Definition: Scope, Clinical Context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474720" cy="10972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200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The Core Clinical Problem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Physicians treat complex multi-morbid patients with polypharmacy without real-time cross-validation.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Dangerous drug interactions, drug-condition contraindications, and documented patient allergies are missed during high-pressure consultations.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Crucial safety knowledge is locked away in multi-page unstructured PDF drug labels.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474720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Clinical &amp; Diagnostic Context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Static EHR systems check isolated lists but fail to evaluate cumulative multi-system organ risks (e.g., impaired renal or hepatic clearance).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Physicians face severe 'Alert Fatigue' when bombarded with trivial warnings, leading them to override critical MAJOR alerts.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Post-market surveillance signals (FAERS) take months to reflect in clinical practice.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4747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347472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508760"/>
            <a:ext cx="3200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Significance of Addressing the Gaps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Interception at DB Level: Triggers enforce safety checks that application code cannot bypass or forget.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Audit Trail Integrity: Doctors can override alerts only by logging formal clinical justifications, maintaining medico-legal accountability.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Sub-second Execution: Zero latency impact on clinical workflows during prescription entry.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04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Objectives: Primary Goal &amp; Specific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12801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PRIMARY PROJECT GOAL</a:t>
            </a:r>
          </a:p>
          <a:p>
            <a:pPr>
              <a:defRPr sz="1200" b="1">
                <a:solidFill>
                  <a:srgbClr val="0F2942"/>
                </a:solidFill>
              </a:defRPr>
            </a:pPr>
            <a:r>
              <a:t>To design and implement a production-grade, polyglot clinical decision-support database system that intercept medication incompatibilities in real-time via PL/pgSQL database triggers while autonomously mining post-market adverse event signals using NoSQL big-data aggregation.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2578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8920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1. Transactional Safety Core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Architect a normalized 11-table BCNF PostgreSQL schema enforcing strict ACID guarantees, atomic prescription commits, and advisory concurrency locking.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788920"/>
            <a:ext cx="52578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926080"/>
            <a:ext cx="48920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2. Real-Time Interception Trigger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Implement a high-performance PL/pgSQL trigger (trg_medication_safety) evaluating 3-tier safety checks (Interactions, Contraindications, Allergies) with sub-second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2578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8920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3. High-Volume NoSQL Pipeline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Ingest 1,000+ FDA drug labels and 5,000+ adverse event reports into MongoDB collections, computing PRR and ROR pharmacovigilance safety 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663440"/>
            <a:ext cx="52578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800600"/>
            <a:ext cx="48920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4. Role-Segregated Clinical Portal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Build an intuitive Streamlit clinical frontend with native PostgreSQL role-level authentication (ms_doctor, ms_pharmacist, ms_admin) and override audit logging.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05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Methodology: Hybrid Polyglot Persistence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474720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PostgreSQL 18 (Operational Core)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Role: Transactional ACID core for patient electronic prescriptions.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Schema: 11 Normalized Tables in Boyce-Codd Normal Form (BCNF).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Execution: PL/pgSQL database triggers execute on INSERT.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Security: Role-Based Access Control (RBAC) via ms_doctor, ms_pharmacist, ms_admin.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474720" cy="10972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08760"/>
            <a:ext cx="31089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MongoDB 8.2 (NoSQL Surveillance Lake)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Role: Scalable storage for high-volume unstructured JSON documents.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Collections: medication_labels (openFDA) &amp; adverse_reports (FAERS).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Performance: Compound indexes on generic_name, rxcui, and medicinalproduct.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Analytics: Multi-stage aggregation pipelines for PRR &amp; ROR signal mining.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4747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3474720" cy="109728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31089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942"/>
                </a:solidFill>
              </a:defRPr>
            </a:pPr>
            <a:r>
              <a:t>Python ETL &amp; Application Bridge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ETL Pipeline: Extracts FDA label data, normalizes text into Medication catalog.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Harness: Standalone zero-install SQLite verification harness (run_demo.py).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Concurrency: Per-patient transaction advisory locking (pg_advisory_xact_lock).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Frontend: Streamlit role-aware clinical dashboard for doctors &amp; pharmacists.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05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Methodology: Data Flow Diagram (DFD Levels 0, 1 &amp;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858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FD_MediSenti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675120" cy="74543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80160"/>
            <a:ext cx="36576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417320"/>
            <a:ext cx="32918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Process Flow Mechanics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2942"/>
                </a:solidFill>
              </a:rPr>
              <a:t>Level 0 (Context): </a:t>
            </a:r>
            <a:r>
              <a:rPr sz="950">
                <a:solidFill>
                  <a:srgbClr val="1E293B"/>
                </a:solidFill>
              </a:rPr>
              <a:t>External entities (Doctor, Pharmacist, FDA API) interact with MediSentinel core boundary.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2942"/>
                </a:solidFill>
              </a:rPr>
              <a:t>Level 1 (Decomposition): </a:t>
            </a:r>
            <a:r>
              <a:rPr sz="950">
                <a:solidFill>
                  <a:srgbClr val="1E293B"/>
                </a:solidFill>
              </a:rPr>
              <a:t>Separates Prescription Intake, Real-Time Trigger Evaluation, Audit Logging, and MongoDB Ingestion.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2942"/>
                </a:solidFill>
              </a:rPr>
              <a:t>Level 2 (Trigger Sub-process): </a:t>
            </a:r>
            <a:r>
              <a:rPr sz="950">
                <a:solidFill>
                  <a:srgbClr val="1E293B"/>
                </a:solidFill>
              </a:rPr>
              <a:t>Item Insertion triggers parallel evaluation against: active patient medications, diagnosed conditions, and recorded allergies.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2942"/>
                </a:solidFill>
              </a:rPr>
              <a:t>Audit Containment: </a:t>
            </a:r>
            <a:r>
              <a:rPr sz="950">
                <a:solidFill>
                  <a:srgbClr val="1E293B"/>
                </a:solidFill>
              </a:rPr>
              <a:t>Alerts are recorded in Alert_Log via SECURITY DEFINER; clinical overrides write back with mandatory justification strings.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06 ·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Design: Entity-Relationship Model (Chen &amp; Relational)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73152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R_Diagram_MediSenti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7132320" cy="56527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280160"/>
            <a:ext cx="32004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17320"/>
            <a:ext cx="29260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Structural Architecture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7 Strong/Weak Entity Types: Patient, Doctor, Prescription, Prescription_Item, Medication, Alert, Adverse_Signal.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8 Formal Relationships: Writes (Doctor-Prescription), Contains (Prescription-Item), Raises (Item-Alert), etc.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Self-Referential M:N: Interaction links Medication to Medication with canonical ordering check (med_id_1 &lt; med_id_2).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Weak Entities: Patient_Condition, Allergy, and Prescription_Item depend on identifying parent entities.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Referential Integrity: Strict ON DELETE cascades and foreign key constraints prevent orphan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06 · DATABASE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Database Rigor: Schema Mapping &amp; BCNF Normalization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858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hema_Diagram_MediSenti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675120" cy="87341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80160"/>
            <a:ext cx="36576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417320"/>
            <a:ext cx="32918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Normal Form Proofs (BCNF)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UNF to 1NF: </a:t>
            </a:r>
            <a:r>
              <a:rPr sz="950">
                <a:solidFill>
                  <a:srgbClr val="1E293B"/>
                </a:solidFill>
              </a:rPr>
              <a:t>Eliminated repeating medication rows and multi-valued condition/allergy attributes into atomic tuples.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1NF to 2NF: </a:t>
            </a:r>
            <a:r>
              <a:rPr sz="950">
                <a:solidFill>
                  <a:srgbClr val="1E293B"/>
                </a:solidFill>
              </a:rPr>
              <a:t>Removed partial functional dependencies. Prescription details depend on prescription_id, not line items.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2NF to 3NF: </a:t>
            </a:r>
            <a:r>
              <a:rPr sz="950">
                <a:solidFill>
                  <a:srgbClr val="1E293B"/>
                </a:solidFill>
              </a:rPr>
              <a:t>Removed transitive dependencies (e.g. Doctor specialty depends on doctor_id, not prescription).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3NF to BCNF: </a:t>
            </a:r>
            <a:r>
              <a:rPr sz="950">
                <a:solidFill>
                  <a:srgbClr val="1E293B"/>
                </a:solidFill>
              </a:rPr>
              <a:t>Verified that for every non-trivial functional dependency X -&gt; Y, X is a superkey.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Zero Redundancy: </a:t>
            </a:r>
            <a:r>
              <a:rPr sz="950">
                <a:solidFill>
                  <a:srgbClr val="1E293B"/>
                </a:solidFill>
              </a:rPr>
              <a:t>11 final relations guarantee insertion, update, and deletion anomaly freedom.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06 · DATABASE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DB Innovation: Real-Time PL/pgSQL Safety Trigger &amp;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486400" cy="51206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52120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PL/pgSQL Trigger Engine (trg_medication_safety)</a:t>
            </a:r>
          </a:p>
          <a:p>
            <a:pPr>
              <a:defRPr sz="850">
                <a:solidFill>
                  <a:srgbClr val="0F172A"/>
                </a:solidFill>
                <a:latin typeface="Consolas"/>
              </a:defRPr>
            </a:pPr>
            <a:r>
              <a:t>-- Fired AFTER INSERT ON Prescription_Item</a:t>
            </a:r>
            <a:br/>
            <a:r>
              <a:t>FOR EACH ROW EXECUTE FUNCTION fn_check_medication_safety();</a:t>
            </a:r>
            <a:br/>
            <a:br/>
            <a:r>
              <a:t>1. Interaction Detection:</a:t>
            </a:r>
            <a:br/>
            <a:r>
              <a:t>   SELECT i.severity, m.name FROM Interaction i</a:t>
            </a:r>
            <a:br/>
            <a:r>
              <a:t>   JOIN Prescription_Item pi ON ...</a:t>
            </a:r>
            <a:br/>
            <a:r>
              <a:t>   WHERE (i.med_id_1 = LEAST(NEW.med_id, pi.med_id)</a:t>
            </a:r>
            <a:br/>
            <a:r>
              <a:t>      AND i.med_id_2 = GREATEST(NEW.med_id, pi.med_id))</a:t>
            </a:r>
            <a:br/>
            <a:r>
              <a:t>     AND p.patient_id = v_patient AND p.status = 'ACTIVE';</a:t>
            </a:r>
            <a:br/>
            <a:br/>
            <a:r>
              <a:t>2. Contraindication Detection:</a:t>
            </a:r>
            <a:br/>
            <a:r>
              <a:t>   SELECT c.severity, c.condition_name FROM Contraindication c</a:t>
            </a:r>
            <a:br/>
            <a:r>
              <a:t>   JOIN Patient_Condition pc ON pc.condition_name = c.condition_name</a:t>
            </a:r>
            <a:br/>
            <a:r>
              <a:t>   WHERE c.med_id = NEW.med_id AND pc.patient_id = v_patient;</a:t>
            </a:r>
            <a:br/>
            <a:br/>
            <a:r>
              <a:t>3. Allergy Interception:</a:t>
            </a:r>
            <a:br/>
            <a:r>
              <a:t>   SELECT a.reaction FROM Allergy a</a:t>
            </a:r>
            <a:br/>
            <a:r>
              <a:t>   WHERE a.patient_id = v_patient AND a.med_id = NEW.med_id;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0292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46634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Database Security &amp; Privilege Model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SECURITY DEFINER Privilege: </a:t>
            </a:r>
            <a:r>
              <a:rPr sz="950">
                <a:solidFill>
                  <a:srgbClr val="1E293B"/>
                </a:solidFill>
              </a:rPr>
              <a:t>The safety trigger executes with elevated schema privileges, ensuring Alert_Log cannot be modified or forged directly by user sessions.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Doctor Role (ms_doctor): </a:t>
            </a:r>
            <a:r>
              <a:rPr sz="950">
                <a:solidFill>
                  <a:srgbClr val="1E293B"/>
                </a:solidFill>
              </a:rPr>
              <a:t>Granted INSERT/SELECT on Patients and Prescriptions; restricted to UPDATE only (overridden, override_reason) on Alert_Log.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Pharmacist Role (ms_pharmacist): </a:t>
            </a:r>
            <a:r>
              <a:rPr sz="950">
                <a:solidFill>
                  <a:srgbClr val="1E293B"/>
                </a:solidFill>
              </a:rPr>
              <a:t>Strict read-only privileges across all operational clinical tables; write operations are intercepted by PostgreSQL engine.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Admin Role (ms_admin): </a:t>
            </a:r>
            <a:r>
              <a:rPr sz="950">
                <a:solidFill>
                  <a:srgbClr val="1E293B"/>
                </a:solidFill>
              </a:rPr>
              <a:t>Supervisory maintenance role responsible for medication catalog loaders, bulk ETL pipelines, and synthetic generator runs.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Concurrency Locking: </a:t>
            </a:r>
            <a:r>
              <a:rPr sz="950">
                <a:solidFill>
                  <a:srgbClr val="1E293B"/>
                </a:solidFill>
              </a:rPr>
              <a:t>Uses pg_advisory_xact_lock(patient_id) to serialize simultaneous prescriptions and prevent race conditions.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07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Clinical Interface: Role Authentication &amp; Patient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5029200" cy="24205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663440"/>
            <a:ext cx="52120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validation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09160"/>
            <a:ext cx="5029200" cy="24205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pat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029200" cy="24205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07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Clinical Interface: Prescription Safety Interception &amp; Overrides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prescri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5029200" cy="24205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029200" cy="24205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07 · PHARMACOVIGILANCE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Pharmacovigilance Analytics: Disproportionality Signal Mining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4864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prr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303520" cy="28295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280160"/>
            <a:ext cx="50292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46634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Mathematical Formulation &amp; NoSQL Aggregation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2942"/>
                </a:solidFill>
              </a:rPr>
              <a:t>Proportional Reporting Ratio (PRR): </a:t>
            </a:r>
            <a:r>
              <a:rPr sz="950">
                <a:solidFill>
                  <a:srgbClr val="1E293B"/>
                </a:solidFill>
              </a:rPr>
              <a:t>Quantifies the proportion of reports for a specific adverse reaction associated with drug X relative to all other drugs. Threshold: PRR &gt;= 2.0 and count &gt;= 3.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2942"/>
                </a:solidFill>
              </a:rPr>
              <a:t>Reporting Odds Ratio (ROR): </a:t>
            </a:r>
            <a:r>
              <a:rPr sz="950">
                <a:solidFill>
                  <a:srgbClr val="1E293B"/>
                </a:solidFill>
              </a:rPr>
              <a:t>Calculates the odds of reporting the adverse event versus not reporting it. Used by FDA for post-market signal validation.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2942"/>
                </a:solidFill>
              </a:rPr>
              <a:t>MongoDB Pipeline Execution: </a:t>
            </a:r>
            <a:r>
              <a:rPr sz="950">
                <a:solidFill>
                  <a:srgbClr val="1E293B"/>
                </a:solidFill>
              </a:rPr>
              <a:t>Runs high-performance $unwind -&gt; $group -&gt; $sort -&gt; $limit aggregation across adverse_reports collection in &lt;80ms.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2942"/>
                </a:solidFill>
              </a:rPr>
              <a:t>Closing the Surveillance Loop: </a:t>
            </a:r>
            <a:r>
              <a:rPr sz="950">
                <a:solidFill>
                  <a:srgbClr val="1E293B"/>
                </a:solidFill>
              </a:rPr>
              <a:t>Detected signals write back into PostgreSQL Adverse_Signal table to alert prescribing doctors to novel medication risks before formal label revisions.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08 ·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Outcomes: Experimental Results &amp;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578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508760"/>
            <a:ext cx="2011680" cy="73152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&lt; 5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6304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Sub-second Interception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709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Database trigger evaluates 3-tier rules and logs alerts with undetectable overhead during prescription creation.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2578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1508760"/>
            <a:ext cx="2011680" cy="73152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46304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Zero Alert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709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ACID atomic guarantees ensure that prescription lines and generated safety alerts commit or rollback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79"/>
            <a:ext cx="52578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4069079"/>
            <a:ext cx="2011680" cy="73152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34 / 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23359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Test Suite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59"/>
            <a:ext cx="4709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Comprehensive test suite (test_validation, test_ingestion, test_db) validates input parsing, NoSQL ETL, and triggers.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79"/>
            <a:ext cx="52578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4069079"/>
            <a:ext cx="2011680" cy="73152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023359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OpenFDA Data 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37759"/>
            <a:ext cx="4709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Successfully ingested 1,000+ FDA drug label monographs and 5,000+ FAERS adverse reaction safety reports.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08 ·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Timeline: Development Roadmap (Weeks 1 to 13)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10180015" cy="44609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257800"/>
            <a:ext cx="10728655" cy="1143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MILESTONE STATUS: PHASE-I SPRINT COMPLETED &amp; TAGGED (v1-partial-demo)</a:t>
            </a:r>
          </a:p>
          <a:p>
            <a:pPr>
              <a:defRPr sz="1050">
                <a:solidFill>
                  <a:srgbClr val="0F2942"/>
                </a:solidFill>
              </a:defRPr>
            </a:pPr>
            <a:r>
              <a:t>✓ 11 BCNF relations, PL/pgSQL triggers, role privileges, openFDA ingestion, Streamlit clinical portal, and all 7 Pull Requests merged into main on schedule.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08 ·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Expected Tangible Outcomes by the End of First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578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257800" cy="914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4892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Patent / Copyright Filing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Title: System and Architecture for Real-Time Transactional Safety Interception in Polyglot Clinical Databases.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Novelty: Concurrency-locked DB trigger executing multi-tier contraindication matrices coupled with NoSQL disproportionality analytics.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Drafting prior art search and functional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2578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257800" cy="914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44752"/>
            <a:ext cx="4892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Conference Publication (IEEE)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Target: International Conference on Emerging Trends in Healthcare Computing / IEEE BHI.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Topic: Performance benchmarking of in-database PL/pgSQL trigger safety vs. application-layer rules engines in polypharmacy.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Manuscript drafting following standard IEEE format.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52578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79"/>
            <a:ext cx="525780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1"/>
            <a:ext cx="4892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Journal Publication (Scopus)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Target: Journal of Biomedical Informatics / BMC Medical Informatics and Decision Making.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Focus: Continuous post-market pharmacovigilance surveillance combining FAERS open data with operational EHR schemas.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Comprehensive empirical validation across 10,000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40479"/>
            <a:ext cx="52578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840479"/>
            <a:ext cx="5257800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05071"/>
            <a:ext cx="4892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Research Grant Proposal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Focus: Scaling MediSentinel into regional hospital network EHRs with federated privacy-preserving learning.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Funding Target: Healthcare Innovation Grant / DST-SERB Student Research Seed Fund.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Budget &amp; infrastructure scaling requirements mapped 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09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Phase 2 Technical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578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892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Phase-I Achievements Summary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Architectural Success: Fully realized hybrid polyglot system bridging transactional PostgreSQL and analytical MongoDB.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Relational Rigor: 11-table schema normalized to BCNF, eliminating redundancy and structural update anomalies.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Guaranteed Safety Net: PL/pgSQL database trigger executes natively on row insertion, ensuring safety checks cannot be bypassed.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Role Security Enforced: Implemented least-privilege PostgreSQL roles (doctor, pharmacist, admin) restricting unauthorized actions.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Production Verified: Complete end-to-end test coverage with zero-install SQLite verification harness and automated pytest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578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892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Phase 2 Next Steps (AI / NLP &amp; Predictive ML)</a:t>
            </a:r>
          </a:p>
          <a:p>
            <a:pPr>
              <a:spcBef>
                <a:spcPts val="800"/>
              </a:spcBef>
              <a:defRPr sz="1050">
                <a:solidFill>
                  <a:srgbClr val="0F2942"/>
                </a:solidFill>
              </a:defRPr>
            </a:pPr>
            <a:r>
              <a:t>➔ NLP Entity Extraction: Deploy spaCy and BioBERT models to parse FDA drug monograph text sections into structured SQL interactions.</a:t>
            </a:r>
          </a:p>
          <a:p>
            <a:pPr>
              <a:spcBef>
                <a:spcPts val="800"/>
              </a:spcBef>
              <a:defRPr sz="1050">
                <a:solidFill>
                  <a:srgbClr val="0F2942"/>
                </a:solidFill>
              </a:defRPr>
            </a:pPr>
            <a:r>
              <a:t>➔ Machine Learning Risk Scoring: Train gradient-boosted decision trees to compute personalized patient risk scores (0.0 to 1.0) on Alert_Log.</a:t>
            </a:r>
          </a:p>
          <a:p>
            <a:pPr>
              <a:spcBef>
                <a:spcPts val="800"/>
              </a:spcBef>
              <a:defRPr sz="1050">
                <a:solidFill>
                  <a:srgbClr val="0F2942"/>
                </a:solidFill>
              </a:defRPr>
            </a:pPr>
            <a:r>
              <a:t>➔ Automated Signal Feeds: Establish continuous streaming ingestion from openFDA FAERS endpoints with real-time PRR recalculation.</a:t>
            </a:r>
          </a:p>
          <a:p>
            <a:pPr>
              <a:spcBef>
                <a:spcPts val="800"/>
              </a:spcBef>
              <a:defRPr sz="1050">
                <a:solidFill>
                  <a:srgbClr val="0F2942"/>
                </a:solidFill>
              </a:defRPr>
            </a:pPr>
            <a:r>
              <a:t>➔ HL7 / FHIR Integration: Build standards-compliant export interfaces for seamless deployment across hospital management systems.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SECTION 10 ·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Academic &amp; Technical References (APA Format)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CITED ACADEMIC LITERATURE &amp; CLINICAL DATA SOURCES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Bates, D. W., Cullen, D. J., Laird, N., Petersen, L. A., Small, S. D., Servi, D., ... &amp; Leape, L. L. (1995). Incidence of adverse drug events and potential adverse drug events: Implications for prevention. JAMA, 274(1), 29-34.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Bate, A., &amp; Evans, S. J. (2009). Quantitative signal detection using spontaneous ADR reporting. British Journal of Clinical Pharmacology, 68(4), 570-581.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Nelson, S. J., Zeng, K., Kilbourne, J., Powell, T., &amp; Moore, R. (2011). Normalized names for clinical drugs: RxNorm at 6 years. Journal of the American Medical Informatics Association, 18(4), 441-448.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U.S. Food and Drug Administration (FDA). (2024). openFDA Drug Label and Adverse Event APIs. https://open.fda.gov/apis/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Percha, B., &amp; Altman, R. B. (2018). Informatics standards for drug-drug interactions. Journal of Biomedical Informatics, 86, 128-138.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Silberschatz, A., Korth, H. F., &amp; Sudarshan, S. (2020). Database System Concepts (7th ed.). McGraw-Hill Education (Chapters on Relational Model, BCNF, Triggers, and Polyglot Architecture).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200" b="1">
                <a:solidFill>
                  <a:srgbClr val="0EA5E9"/>
                </a:solidFill>
              </a:defRPr>
            </a:pPr>
            <a:r>
              <a:t>Questions &amp; Viva Discussion Welcome</a:t>
            </a:r>
          </a:p>
          <a:p>
            <a:pPr algn="ctr">
              <a:defRPr sz="1400" i="1">
                <a:solidFill>
                  <a:srgbClr val="CBD5E1"/>
                </a:solidFill>
              </a:defRPr>
            </a:pPr>
            <a:r>
              <a:t>Repository: https://github.com/Rishi799/MediSentinel · Tag: v1-partial-demo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389120"/>
            <a:ext cx="7619695" cy="1371600"/>
          </a:xfrm>
          <a:prstGeom prst="roundRect">
            <a:avLst/>
          </a:prstGeom>
          <a:solidFill>
            <a:srgbClr val="142D48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4480560"/>
            <a:ext cx="725393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PROJECT TEAM · RV COLLEGE OF ENGINEERING</a:t>
            </a:r>
          </a:p>
          <a:p>
            <a:pPr algn="ctr">
              <a:defRPr sz="1100" b="1">
                <a:solidFill>
                  <a:srgbClr val="F1F5F9"/>
                </a:solidFill>
              </a:defRPr>
            </a:pPr>
            <a:r>
              <a:t>Rishi (Person A) · Member 2 (Person B) · Priyanshi Gupta (Person C)</a:t>
            </a:r>
          </a:p>
          <a:p>
            <a:pPr algn="ctr">
              <a:defRPr sz="1050">
                <a:solidFill>
                  <a:srgbClr val="94A3B8"/>
                </a:solidFill>
              </a:defRPr>
            </a:pPr>
            <a:r>
              <a:t>Department of Computer Science &amp; Engineering (AI &amp; ML) · Semester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